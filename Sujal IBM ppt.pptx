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0651C3A-4460-11DB-9652-00E08161165F}">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2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-2147483648-2147483648 16383 0 0,'0'0'0'0'0,"0"0"0"0"0,0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-2147483648-2147483648 16383 0 0,'0'0'0'0'0,"0"0"0"0"0,0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-2147483648-2147483648 16383 0 0,'0'0'0'0'0,"0"0"0"0"0,0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218787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sujaldixitsd@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ujalDixit9538/NetworkSentinelAI.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hyperlink" Target="https://huggingface.co/spaces/SujalDixit1927/NetworkSentinelAI" TargetMode="Externa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5481037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ctr" rtl="0">
                        <a:spcBef>
                          <a:spcPts val="0"/>
                        </a:spcBef>
                        <a:spcAft>
                          <a:spcPts val="0"/>
                        </a:spcAft>
                        <a:buNone/>
                      </a:pPr>
                      <a:endParaRPr lang="en-US" sz="1200" dirty="0" smtClean="0"/>
                    </a:p>
                    <a:p>
                      <a:pPr marL="0" marR="0" lvl="0" indent="0" algn="ctr" rtl="0">
                        <a:spcBef>
                          <a:spcPts val="0"/>
                        </a:spcBef>
                        <a:spcAft>
                          <a:spcPts val="0"/>
                        </a:spcAft>
                        <a:buNone/>
                      </a:pPr>
                      <a:r>
                        <a:rPr lang="en-US" sz="2000" dirty="0" err="1" smtClean="0"/>
                        <a:t>Sujal</a:t>
                      </a:r>
                      <a:r>
                        <a:rPr lang="en-US" sz="2000" dirty="0" smtClean="0"/>
                        <a:t> Dixit</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200" dirty="0" smtClean="0">
                        <a:hlinkClick r:id="rId3"/>
                      </a:endParaRPr>
                    </a:p>
                    <a:p>
                      <a:pPr marL="0" marR="0" lvl="0" indent="0" algn="l" rtl="0">
                        <a:spcBef>
                          <a:spcPts val="0"/>
                        </a:spcBef>
                        <a:spcAft>
                          <a:spcPts val="0"/>
                        </a:spcAft>
                        <a:buNone/>
                      </a:pPr>
                      <a:r>
                        <a:rPr lang="en-US" sz="2000" dirty="0" smtClean="0">
                          <a:hlinkClick r:id="rId3"/>
                        </a:rPr>
                        <a:t>sujaldixitsd@gmail.com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200" dirty="0" smtClean="0"/>
                    </a:p>
                    <a:p>
                      <a:pPr marL="0" marR="0" lvl="0" indent="0" algn="l" rtl="0">
                        <a:spcBef>
                          <a:spcPts val="0"/>
                        </a:spcBef>
                        <a:spcAft>
                          <a:spcPts val="0"/>
                        </a:spcAft>
                        <a:buNone/>
                      </a:pPr>
                      <a:r>
                        <a:rPr lang="en-US" sz="2000" dirty="0" smtClean="0"/>
                        <a:t>+91 8595339207</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pic>
        <p:nvPicPr>
          <p:cNvPr id="98" name="Google Shape;98;p2"/>
          <p:cNvPicPr preferRelativeResize="0"/>
          <p:nvPr/>
        </p:nvPicPr>
        <p:blipFill>
          <a:blip r:embed="rId4">
            <a:extLst>
              <a:ext uri="{28A0092B-C50C-407E-A947-70E740481C1C}">
                <a14:useLocalDpi xmlns:a14="http://schemas.microsoft.com/office/drawing/2010/main" val="0"/>
              </a:ext>
            </a:extLst>
          </a:blip>
          <a:stretch>
            <a:fillRect/>
          </a:stretch>
        </p:blipFill>
        <p:spPr>
          <a:xfrm>
            <a:off x="4099209" y="3738417"/>
            <a:ext cx="670130" cy="801811"/>
          </a:xfrm>
          <a:prstGeom prst="rect">
            <a:avLst/>
          </a:prstGeom>
          <a:noFill/>
          <a:ln>
            <a:noFill/>
          </a:ln>
        </p:spPr>
      </p:pic>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a:t>
            </a:r>
            <a:r>
              <a:rPr lang="en-US" sz="2400" b="1" dirty="0"/>
              <a:t> </a:t>
            </a:r>
            <a:r>
              <a:rPr lang="en-US" sz="2400" b="1" dirty="0">
                <a:highlight>
                  <a:srgbClr val="FFFF00"/>
                </a:highlight>
              </a:rPr>
              <a:t>[ </a:t>
            </a:r>
            <a:r>
              <a:rPr lang="en-US" sz="2000" b="1" dirty="0" err="1" smtClean="0">
                <a:highlight>
                  <a:srgbClr val="FFFF00"/>
                </a:highlight>
              </a:rPr>
              <a:t>Cybersecurity</a:t>
            </a:r>
            <a:r>
              <a:rPr lang="en-US" sz="2000" b="1" dirty="0" smtClean="0">
                <a:highlight>
                  <a:srgbClr val="FFFF00"/>
                </a:highlight>
              </a:rPr>
              <a:t>/Network Operations</a:t>
            </a:r>
            <a:r>
              <a:rPr lang="en-US" sz="2400" b="1" dirty="0" smtClean="0">
                <a:highlight>
                  <a:srgbClr val="FFFF00"/>
                </a:highlight>
              </a:rPr>
              <a:t> </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892552"/>
          </a:xfrm>
          <a:prstGeom prst="rect">
            <a:avLst/>
          </a:prstGeom>
          <a:noFill/>
        </p:spPr>
        <p:txBody>
          <a:bodyPr wrap="square" rtlCol="0">
            <a:spAutoFit/>
          </a:bodyPr>
          <a:lstStyle/>
          <a:p>
            <a:r>
              <a:rPr lang="en-US" sz="2800" b="1" dirty="0" smtClean="0"/>
              <a:t>Project Tile –</a:t>
            </a:r>
            <a:r>
              <a:rPr lang="en-US" sz="2400" b="1" dirty="0" smtClean="0"/>
              <a:t> </a:t>
            </a:r>
            <a:r>
              <a:rPr lang="en-US" sz="2400" b="1" dirty="0" smtClean="0">
                <a:highlight>
                  <a:srgbClr val="FFFF00"/>
                </a:highlight>
              </a:rPr>
              <a:t>[</a:t>
            </a:r>
            <a:r>
              <a:rPr lang="en-US" sz="2000" b="1" dirty="0" err="1" smtClean="0">
                <a:solidFill>
                  <a:srgbClr val="002060"/>
                </a:solidFill>
                <a:highlight>
                  <a:srgbClr val="FFFF00"/>
                </a:highlight>
                <a:latin typeface="Arial" pitchFamily="34" charset="0"/>
                <a:ea typeface="Times New Roman"/>
                <a:cs typeface="Arial" pitchFamily="34" charset="0"/>
                <a:sym typeface="Times New Roman"/>
              </a:rPr>
              <a:t>NetworkSentinelAI</a:t>
            </a:r>
            <a:r>
              <a:rPr lang="en-US" sz="2000" b="1" dirty="0" smtClean="0">
                <a:solidFill>
                  <a:srgbClr val="002060"/>
                </a:solidFill>
                <a:highlight>
                  <a:srgbClr val="FFFF00"/>
                </a:highlight>
                <a:latin typeface="Arial" pitchFamily="34" charset="0"/>
                <a:ea typeface="Times New Roman"/>
                <a:cs typeface="Arial" pitchFamily="34" charset="0"/>
                <a:sym typeface="Times New Roman"/>
              </a:rPr>
              <a:t> – Hybrid Intrusion Detection &amp; </a:t>
            </a:r>
            <a:r>
              <a:rPr lang="en-US" sz="2000" b="1" dirty="0" err="1" smtClean="0">
                <a:solidFill>
                  <a:srgbClr val="002060"/>
                </a:solidFill>
                <a:highlight>
                  <a:srgbClr val="FFFF00"/>
                </a:highlight>
                <a:latin typeface="Arial" pitchFamily="34" charset="0"/>
                <a:ea typeface="Times New Roman"/>
                <a:cs typeface="Arial" pitchFamily="34" charset="0"/>
                <a:sym typeface="Times New Roman"/>
              </a:rPr>
              <a:t>Agentic</a:t>
            </a:r>
            <a:r>
              <a:rPr lang="en-US" sz="2000" b="1" dirty="0" smtClean="0">
                <a:solidFill>
                  <a:srgbClr val="002060"/>
                </a:solidFill>
                <a:highlight>
                  <a:srgbClr val="FFFF00"/>
                </a:highlight>
                <a:latin typeface="Arial" pitchFamily="34" charset="0"/>
                <a:ea typeface="Times New Roman"/>
                <a:cs typeface="Arial" pitchFamily="34" charset="0"/>
                <a:sym typeface="Times New Roman"/>
              </a:rPr>
              <a:t> SOC Analyst</a:t>
            </a:r>
            <a:r>
              <a:rPr lang="en-US" sz="2400" b="1" dirty="0" smtClean="0">
                <a:highlight>
                  <a:srgbClr val="FFFF00"/>
                </a:highlight>
              </a:rPr>
              <a:t>]</a:t>
            </a:r>
            <a:endParaRPr lang="en-IN" sz="2400" b="1" dirty="0">
              <a:highlight>
                <a:srgbClr val="FFFF00"/>
              </a:highlight>
            </a:endParaRPr>
          </a:p>
        </p:txBody>
      </p:sp>
      <p:sp>
        <p:nvSpPr>
          <p:cNvPr id="3" name="TextBox 2">
            <a:extLst>
              <a:ext uri="{FF2B5EF4-FFF2-40B4-BE49-F238E27FC236}">
                <a16:creationId xmlns=""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453166" y="166092"/>
            <a:ext cx="11357834" cy="6463308"/>
          </a:xfrm>
          <a:prstGeom prst="rect">
            <a:avLst/>
          </a:prstGeom>
          <a:noFill/>
        </p:spPr>
        <p:txBody>
          <a:bodyPr wrap="square" lIns="91440" tIns="45720" rIns="91440" bIns="45720" rtlCol="0" anchor="t">
            <a:spAutoFit/>
          </a:bodyPr>
          <a:lstStyle/>
          <a:p>
            <a:pPr fontAlgn="base"/>
            <a:r>
              <a:rPr lang="en-US" sz="2800" b="1" dirty="0"/>
              <a:t>Problem Statement: </a:t>
            </a:r>
            <a:r>
              <a:rPr lang="en-US" sz="2800" b="1" dirty="0" smtClean="0"/>
              <a:t>Network Intrusion Detection</a:t>
            </a:r>
            <a:endParaRPr lang="en-US" sz="2800" b="1" dirty="0"/>
          </a:p>
          <a:p>
            <a:endParaRPr lang="en-US" sz="2000" b="1" dirty="0" smtClean="0"/>
          </a:p>
          <a:p>
            <a:r>
              <a:rPr lang="en-US" sz="2000" b="1" dirty="0" smtClean="0"/>
              <a:t>The </a:t>
            </a:r>
            <a:r>
              <a:rPr lang="en-US" sz="2000" b="1" dirty="0"/>
              <a:t>Industry Challenge</a:t>
            </a:r>
            <a:endParaRPr lang="en-US" sz="2000" dirty="0"/>
          </a:p>
          <a:p>
            <a:pPr marL="342900" indent="-342900">
              <a:buFont typeface="Arial" pitchFamily="34" charset="0"/>
              <a:buChar char="•"/>
            </a:pPr>
            <a:r>
              <a:rPr lang="en-US" sz="2000" b="1" dirty="0"/>
              <a:t>Passive Detection:</a:t>
            </a:r>
            <a:r>
              <a:rPr lang="en-US" sz="2000" dirty="0"/>
              <a:t> Traditional Network Intrusion Detection Systems (NIDS) rely on rigid rules and only provide binary "block/allow" alerts.</a:t>
            </a:r>
          </a:p>
          <a:p>
            <a:pPr marL="342900" indent="-342900">
              <a:buFont typeface="Arial" pitchFamily="34" charset="0"/>
              <a:buChar char="•"/>
            </a:pPr>
            <a:r>
              <a:rPr lang="en-US" sz="2000" b="1" dirty="0"/>
              <a:t>Alert Fatigue:</a:t>
            </a:r>
            <a:r>
              <a:rPr lang="en-US" sz="2000" dirty="0"/>
              <a:t> Security Operations Center (SOC) analysts are overwhelmed by thousands of raw, </a:t>
            </a:r>
            <a:r>
              <a:rPr lang="en-US" sz="2000" dirty="0" err="1"/>
              <a:t>uncontextualized</a:t>
            </a:r>
            <a:r>
              <a:rPr lang="en-US" sz="2000" dirty="0"/>
              <a:t> daily alerts</a:t>
            </a:r>
            <a:r>
              <a:rPr lang="en-US" sz="2000" dirty="0" smtClean="0"/>
              <a:t>.</a:t>
            </a:r>
          </a:p>
          <a:p>
            <a:pPr marL="342900" indent="-342900">
              <a:buFont typeface="Arial" pitchFamily="34" charset="0"/>
              <a:buChar char="•"/>
            </a:pPr>
            <a:endParaRPr lang="en-US" sz="1600" dirty="0"/>
          </a:p>
          <a:p>
            <a:r>
              <a:rPr lang="en-US" sz="2000" b="1" dirty="0" smtClean="0"/>
              <a:t>The </a:t>
            </a:r>
            <a:r>
              <a:rPr lang="en-US" sz="2000" b="1" dirty="0"/>
              <a:t>Operational Bottleneck</a:t>
            </a:r>
            <a:endParaRPr lang="en-US" sz="2000" dirty="0"/>
          </a:p>
          <a:p>
            <a:pPr marL="342900" indent="-342900">
              <a:buFont typeface="Arial" pitchFamily="34" charset="0"/>
              <a:buChar char="•"/>
            </a:pPr>
            <a:r>
              <a:rPr lang="en-US" sz="2000" b="1" dirty="0"/>
              <a:t>Slow Triage:</a:t>
            </a:r>
            <a:r>
              <a:rPr lang="en-US" sz="2000" dirty="0"/>
              <a:t> Manually investigating complex cyber-attacks (like </a:t>
            </a:r>
            <a:r>
              <a:rPr lang="en-US" sz="2000" dirty="0" err="1"/>
              <a:t>DoS</a:t>
            </a:r>
            <a:r>
              <a:rPr lang="en-US" sz="2000" dirty="0"/>
              <a:t>, Probes, or U2R) is too slow for modern, high-speed network breaches.</a:t>
            </a:r>
          </a:p>
          <a:p>
            <a:pPr marL="342900" indent="-342900">
              <a:buFont typeface="Arial" pitchFamily="34" charset="0"/>
              <a:buChar char="•"/>
            </a:pPr>
            <a:r>
              <a:rPr lang="en-US" sz="2000" b="1" dirty="0"/>
              <a:t>Lack of </a:t>
            </a:r>
            <a:r>
              <a:rPr lang="en-US" sz="2000" b="1" dirty="0" err="1"/>
              <a:t>Actionability</a:t>
            </a:r>
            <a:r>
              <a:rPr lang="en-US" sz="2000" b="1" dirty="0"/>
              <a:t>:</a:t>
            </a:r>
            <a:r>
              <a:rPr lang="en-US" sz="2000" dirty="0"/>
              <a:t> Existing tools identify that an anomaly occurred, but fail to tell the analyst </a:t>
            </a:r>
            <a:r>
              <a:rPr lang="en-US" sz="2000" i="1" dirty="0"/>
              <a:t>how</a:t>
            </a:r>
            <a:r>
              <a:rPr lang="en-US" sz="2000" dirty="0"/>
              <a:t> to fix it</a:t>
            </a:r>
            <a:r>
              <a:rPr lang="en-US" sz="2000" dirty="0" smtClean="0"/>
              <a:t>.</a:t>
            </a:r>
          </a:p>
          <a:p>
            <a:pPr marL="342900" indent="-342900">
              <a:buFont typeface="Arial" pitchFamily="34" charset="0"/>
              <a:buChar char="•"/>
            </a:pPr>
            <a:endParaRPr lang="en-US" sz="1600" dirty="0"/>
          </a:p>
          <a:p>
            <a:r>
              <a:rPr lang="en-US" sz="2000" b="1" dirty="0" smtClean="0"/>
              <a:t>The </a:t>
            </a:r>
            <a:r>
              <a:rPr lang="en-US" sz="2000" b="1" dirty="0"/>
              <a:t>Project Objective (</a:t>
            </a:r>
            <a:r>
              <a:rPr lang="en-US" sz="2000" b="1" dirty="0" err="1"/>
              <a:t>NetworkSentinelAI</a:t>
            </a:r>
            <a:r>
              <a:rPr lang="en-US" sz="2000" b="1" dirty="0"/>
              <a:t>)</a:t>
            </a:r>
            <a:endParaRPr lang="en-US" sz="2000" dirty="0"/>
          </a:p>
          <a:p>
            <a:pPr marL="342900" indent="-342900">
              <a:buFont typeface="Arial" pitchFamily="34" charset="0"/>
              <a:buChar char="•"/>
            </a:pPr>
            <a:r>
              <a:rPr lang="en-US" sz="2000" b="1" dirty="0"/>
              <a:t>Hybrid AI Architecture:</a:t>
            </a:r>
            <a:r>
              <a:rPr lang="en-US" sz="2000" dirty="0"/>
              <a:t> Build a dual-layer system that leverages predictive Machine Learning (IBM </a:t>
            </a:r>
            <a:r>
              <a:rPr lang="en-US" sz="2000" dirty="0" err="1"/>
              <a:t>AutoAI</a:t>
            </a:r>
            <a:r>
              <a:rPr lang="en-US" sz="2000" dirty="0"/>
              <a:t>) for real-time, mathematical threat classification.</a:t>
            </a:r>
          </a:p>
          <a:p>
            <a:pPr marL="342900" indent="-342900">
              <a:buFont typeface="Arial" pitchFamily="34" charset="0"/>
              <a:buChar char="•"/>
            </a:pPr>
            <a:r>
              <a:rPr lang="en-US" sz="2000" b="1" dirty="0"/>
              <a:t>Autonomous Remediation:</a:t>
            </a:r>
            <a:r>
              <a:rPr lang="en-US" sz="2000" dirty="0"/>
              <a:t> Integrate </a:t>
            </a:r>
            <a:r>
              <a:rPr lang="en-US" sz="2000" dirty="0" err="1"/>
              <a:t>Agentic</a:t>
            </a:r>
            <a:r>
              <a:rPr lang="en-US" sz="2000" dirty="0"/>
              <a:t> AI (IBM Granite) to act as a digital Tier-1 Analyst—instantly transforming raw network telemetry into structured, human-readable mitigation playbooks.</a:t>
            </a:r>
          </a:p>
          <a:p>
            <a:endParaRPr lang="en-IN"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23880" y="1004530"/>
            <a:ext cx="11131336" cy="4862870"/>
          </a:xfrm>
          <a:prstGeom prst="rect">
            <a:avLst/>
          </a:prstGeom>
          <a:noFill/>
        </p:spPr>
        <p:txBody>
          <a:bodyPr wrap="square" lIns="91440" tIns="45720" rIns="91440" bIns="45720" rtlCol="0" anchor="t">
            <a:spAutoFit/>
          </a:bodyPr>
          <a:lstStyle/>
          <a:p>
            <a:pPr fontAlgn="base">
              <a:lnSpc>
                <a:spcPct val="150000"/>
              </a:lnSpc>
            </a:pPr>
            <a:r>
              <a:rPr lang="en-US" sz="2000" b="1" dirty="0"/>
              <a:t> </a:t>
            </a:r>
            <a:r>
              <a:rPr lang="en-US" sz="2000" b="1" dirty="0" smtClean="0"/>
              <a:t>(IBM watsonx.ai Studio – </a:t>
            </a:r>
            <a:r>
              <a:rPr lang="en-US" sz="2000" b="1" dirty="0" err="1" smtClean="0"/>
              <a:t>AutoAI</a:t>
            </a:r>
            <a:r>
              <a:rPr lang="en-US" sz="2000" b="1" dirty="0" smtClean="0"/>
              <a:t>):</a:t>
            </a:r>
            <a:endParaRPr lang="en-US" b="1" dirty="0"/>
          </a:p>
          <a:p>
            <a:endParaRPr lang="en-US" sz="2000" dirty="0" smtClean="0"/>
          </a:p>
          <a:p>
            <a:r>
              <a:rPr lang="en-US" sz="2000" dirty="0" smtClean="0"/>
              <a:t>The </a:t>
            </a:r>
            <a:r>
              <a:rPr lang="en-US" sz="2000" dirty="0"/>
              <a:t>solution is a dual-layer architecture integrating predictive Machine Learning with Generative </a:t>
            </a:r>
            <a:r>
              <a:rPr lang="en-US" sz="2000" dirty="0" err="1"/>
              <a:t>Agentic</a:t>
            </a:r>
            <a:r>
              <a:rPr lang="en-US" sz="2000" dirty="0"/>
              <a:t> AI.</a:t>
            </a:r>
          </a:p>
          <a:p>
            <a:endParaRPr lang="en-US" sz="2000" b="1" dirty="0" smtClean="0"/>
          </a:p>
          <a:p>
            <a:r>
              <a:rPr lang="en-US" sz="2000" b="1" dirty="0" smtClean="0"/>
              <a:t>Layer </a:t>
            </a:r>
            <a:r>
              <a:rPr lang="en-US" sz="2000" b="1" dirty="0"/>
              <a:t>1 (Detection):</a:t>
            </a:r>
            <a:r>
              <a:rPr lang="en-US" sz="2000" dirty="0"/>
              <a:t> IBM Watson Machine Learning (</a:t>
            </a:r>
            <a:r>
              <a:rPr lang="en-US" sz="2000" dirty="0" err="1"/>
              <a:t>AutoAI</a:t>
            </a:r>
            <a:r>
              <a:rPr lang="en-US" sz="2000" dirty="0"/>
              <a:t>) processes 41 network telemetry features in real-time against the KDDCup99 dataset to classify packets as Normal, </a:t>
            </a:r>
            <a:r>
              <a:rPr lang="en-US" sz="2000" dirty="0" err="1"/>
              <a:t>DoS</a:t>
            </a:r>
            <a:r>
              <a:rPr lang="en-US" sz="2000" dirty="0"/>
              <a:t>, Probe, etc.</a:t>
            </a:r>
          </a:p>
          <a:p>
            <a:endParaRPr lang="en-US" sz="2000" b="1" dirty="0" smtClean="0"/>
          </a:p>
          <a:p>
            <a:r>
              <a:rPr lang="en-US" sz="2000" b="1" dirty="0" smtClean="0"/>
              <a:t>Layer </a:t>
            </a:r>
            <a:r>
              <a:rPr lang="en-US" sz="2000" b="1" dirty="0"/>
              <a:t>2 (Response):</a:t>
            </a:r>
            <a:r>
              <a:rPr lang="en-US" sz="2000" dirty="0"/>
              <a:t> An </a:t>
            </a:r>
            <a:r>
              <a:rPr lang="en-US" sz="2000" dirty="0" err="1"/>
              <a:t>Agentic</a:t>
            </a:r>
            <a:r>
              <a:rPr lang="en-US" sz="2000" dirty="0"/>
              <a:t> AI powered by IBM watsonx.ai (Granite models) receives the anomaly classification and autonomously acts as a Tier-1 SOC Analyst.</a:t>
            </a:r>
          </a:p>
          <a:p>
            <a:endParaRPr lang="en-US" sz="2000" b="1" dirty="0" smtClean="0"/>
          </a:p>
          <a:p>
            <a:r>
              <a:rPr lang="en-US" sz="2000" b="1" dirty="0" smtClean="0"/>
              <a:t>Layer </a:t>
            </a:r>
            <a:r>
              <a:rPr lang="en-US" sz="2000" b="1" dirty="0"/>
              <a:t>3 (Interface):</a:t>
            </a:r>
            <a:r>
              <a:rPr lang="en-US" sz="2000" dirty="0"/>
              <a:t> A </a:t>
            </a:r>
            <a:r>
              <a:rPr lang="en-US" sz="2000" dirty="0" err="1"/>
              <a:t>Gradio</a:t>
            </a:r>
            <a:r>
              <a:rPr lang="en-US" sz="2000" dirty="0"/>
              <a:t>-based dashboard provides live packet interception, manual telemetry overrides, and instant visualization of both the mathematical threat boundary and the Agent's mitigation playbook</a:t>
            </a:r>
            <a:r>
              <a:rPr lang="en-US" sz="2000" dirty="0" smtClean="0"/>
              <a:t>. </a:t>
            </a:r>
            <a:endParaRPr lang="en-US" sz="2000"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457200" y="304800"/>
            <a:ext cx="7214616" cy="523220"/>
          </a:xfrm>
          <a:prstGeom prst="rect">
            <a:avLst/>
          </a:prstGeom>
          <a:noFill/>
        </p:spPr>
        <p:txBody>
          <a:bodyPr wrap="square" rtlCol="0">
            <a:spAutoFit/>
          </a:bodyPr>
          <a:lstStyle/>
          <a:p>
            <a:r>
              <a:rPr lang="en-US" sz="2800" b="1" dirty="0"/>
              <a:t>Proposed </a:t>
            </a:r>
            <a:r>
              <a:rPr lang="en-US" sz="2800" b="1" dirty="0" smtClean="0"/>
              <a:t>Solution</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838200" y="1676400"/>
            <a:ext cx="10515600" cy="3785652"/>
          </a:xfrm>
          <a:prstGeom prst="rect">
            <a:avLst/>
          </a:prstGeom>
          <a:noFill/>
        </p:spPr>
        <p:txBody>
          <a:bodyPr wrap="square" lIns="91440" tIns="45720" rIns="91440" bIns="45720" rtlCol="0" anchor="t">
            <a:spAutoFit/>
          </a:bodyPr>
          <a:lstStyle/>
          <a:p>
            <a:pPr marL="285750" indent="-285750">
              <a:buFont typeface="Arial" pitchFamily="34" charset="0"/>
              <a:buChar char="•"/>
            </a:pPr>
            <a:r>
              <a:rPr lang="en-US" sz="2000" b="1" dirty="0"/>
              <a:t>IBM </a:t>
            </a:r>
            <a:r>
              <a:rPr lang="en-US" sz="2000" b="1" dirty="0" smtClean="0"/>
              <a:t>Watsonx.ai </a:t>
            </a:r>
            <a:r>
              <a:rPr lang="en-US" sz="2000" b="1" dirty="0"/>
              <a:t>Studio &amp; </a:t>
            </a:r>
            <a:r>
              <a:rPr lang="en-US" sz="2000" b="1" dirty="0" err="1"/>
              <a:t>AutoAI</a:t>
            </a:r>
            <a:r>
              <a:rPr lang="en-US" sz="2000" b="1" dirty="0"/>
              <a:t>:</a:t>
            </a:r>
            <a:r>
              <a:rPr lang="en-US" sz="2000" dirty="0"/>
              <a:t> For autonomous model training and feature engineering</a:t>
            </a:r>
            <a:r>
              <a:rPr lang="en-US" sz="2000" dirty="0" smtClean="0"/>
              <a:t>.</a:t>
            </a:r>
          </a:p>
          <a:p>
            <a:endParaRPr lang="en-US" sz="2000" dirty="0"/>
          </a:p>
          <a:p>
            <a:pPr marL="285750" indent="-285750">
              <a:buFont typeface="Arial" pitchFamily="34" charset="0"/>
              <a:buChar char="•"/>
            </a:pPr>
            <a:r>
              <a:rPr lang="en-US" sz="2000" b="1" dirty="0"/>
              <a:t>IBM Watson Machine Learning (WML):</a:t>
            </a:r>
            <a:r>
              <a:rPr lang="en-US" sz="2000" dirty="0"/>
              <a:t> For deploying the ML classification endpoint</a:t>
            </a:r>
            <a:r>
              <a:rPr lang="en-US" sz="2000" dirty="0" smtClean="0"/>
              <a:t>.</a:t>
            </a:r>
          </a:p>
          <a:p>
            <a:pPr marL="285750" indent="-285750">
              <a:buFont typeface="Arial" pitchFamily="34" charset="0"/>
              <a:buChar char="•"/>
            </a:pPr>
            <a:endParaRPr lang="en-US" sz="2000" dirty="0"/>
          </a:p>
          <a:p>
            <a:pPr marL="285750" indent="-285750">
              <a:buFont typeface="Arial" pitchFamily="34" charset="0"/>
              <a:buChar char="•"/>
            </a:pPr>
            <a:r>
              <a:rPr lang="en-US" sz="2000" b="1" dirty="0"/>
              <a:t>IBM watsonx.ai &amp; Granite Models:</a:t>
            </a:r>
            <a:r>
              <a:rPr lang="en-US" sz="2000" dirty="0"/>
              <a:t> For natural language reasoning, threat summarization, and generating mitigation playbooks</a:t>
            </a:r>
            <a:r>
              <a:rPr lang="en-US" sz="2000" dirty="0" smtClean="0"/>
              <a:t>.</a:t>
            </a:r>
          </a:p>
          <a:p>
            <a:pPr marL="285750" indent="-285750">
              <a:buFont typeface="Arial" pitchFamily="34" charset="0"/>
              <a:buChar char="•"/>
            </a:pPr>
            <a:endParaRPr lang="en-US" sz="2000" dirty="0"/>
          </a:p>
          <a:p>
            <a:pPr marL="285750" indent="-285750">
              <a:buFont typeface="Arial" pitchFamily="34" charset="0"/>
              <a:buChar char="•"/>
            </a:pPr>
            <a:r>
              <a:rPr lang="en-US" sz="2000" b="1" dirty="0"/>
              <a:t>IBM Cloud (IAM):</a:t>
            </a:r>
            <a:r>
              <a:rPr lang="en-US" sz="2000" dirty="0"/>
              <a:t> For secure API token generation and identity management</a:t>
            </a:r>
            <a:r>
              <a:rPr lang="en-US" sz="2000" dirty="0" smtClean="0"/>
              <a:t>.</a:t>
            </a:r>
          </a:p>
          <a:p>
            <a:pPr marL="285750" indent="-285750">
              <a:buFont typeface="Arial" pitchFamily="34" charset="0"/>
              <a:buChar char="•"/>
            </a:pPr>
            <a:endParaRPr lang="en-US" sz="2000" dirty="0"/>
          </a:p>
          <a:p>
            <a:pPr marL="285750" indent="-285750">
              <a:buFont typeface="Arial" pitchFamily="34" charset="0"/>
              <a:buChar char="•"/>
            </a:pPr>
            <a:r>
              <a:rPr lang="en-US" sz="2000" b="1" dirty="0" err="1"/>
              <a:t>Gradio</a:t>
            </a:r>
            <a:r>
              <a:rPr lang="en-US" sz="2000" b="1" dirty="0"/>
              <a:t>:</a:t>
            </a:r>
            <a:r>
              <a:rPr lang="en-US" sz="2000" dirty="0"/>
              <a:t> For designing and orchestrating the interactive Security Operations Center (SOC) dashboard.</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391180"/>
            <a:ext cx="7123176" cy="523220"/>
          </a:xfrm>
          <a:prstGeom prst="rect">
            <a:avLst/>
          </a:prstGeom>
          <a:noFill/>
        </p:spPr>
        <p:txBody>
          <a:bodyPr wrap="square" lIns="91440" tIns="45720" rIns="91440" bIns="45720" rtlCol="0" anchor="t">
            <a:spAutoFit/>
          </a:bodyPr>
          <a:lstStyle/>
          <a:p>
            <a:r>
              <a:rPr lang="en-US" sz="2800" b="1" dirty="0" smtClean="0"/>
              <a:t>Components Used</a:t>
            </a:r>
            <a:endParaRPr lang="en-IN" sz="28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1143000" y="1143000"/>
            <a:ext cx="9982200" cy="5016758"/>
          </a:xfrm>
          <a:prstGeom prst="rect">
            <a:avLst/>
          </a:prstGeom>
          <a:noFill/>
        </p:spPr>
        <p:txBody>
          <a:bodyPr wrap="square" lIns="91440" tIns="45720" rIns="91440" bIns="45720" rtlCol="0" anchor="t">
            <a:spAutoFit/>
          </a:bodyPr>
          <a:lstStyle/>
          <a:p>
            <a:pPr marL="342900" indent="-342900" algn="just">
              <a:buFont typeface="Arial" pitchFamily="34" charset="0"/>
              <a:buChar char="•"/>
            </a:pPr>
            <a:r>
              <a:rPr lang="en-US" sz="2000" b="1" dirty="0"/>
              <a:t>Interactive </a:t>
            </a:r>
            <a:r>
              <a:rPr lang="en-US" sz="2000" b="1" dirty="0" err="1"/>
              <a:t>Gradio</a:t>
            </a:r>
            <a:r>
              <a:rPr lang="en-US" sz="2000" b="1" dirty="0"/>
              <a:t> SOC Dashboard:</a:t>
            </a:r>
            <a:r>
              <a:rPr lang="en-US" sz="2000" dirty="0"/>
              <a:t> Serves as the primary user interface, allowing live interception of simulated network telemetry (e.g., protocol types, byte counts, error rates) and manual parameter overrides for edge-case testing</a:t>
            </a:r>
            <a:r>
              <a:rPr lang="en-US" sz="2000" dirty="0" smtClean="0"/>
              <a:t>.</a:t>
            </a:r>
          </a:p>
          <a:p>
            <a:pPr marL="342900" indent="-342900" algn="just">
              <a:buFont typeface="Arial" pitchFamily="34" charset="0"/>
              <a:buChar char="•"/>
            </a:pPr>
            <a:endParaRPr lang="en-US" sz="2000" dirty="0"/>
          </a:p>
          <a:p>
            <a:pPr marL="342900" indent="-342900" algn="just">
              <a:buFont typeface="Arial" pitchFamily="34" charset="0"/>
              <a:buChar char="•"/>
            </a:pPr>
            <a:r>
              <a:rPr lang="en-US" sz="2000" b="1" dirty="0"/>
              <a:t>IBM Watson Machine Learning (</a:t>
            </a:r>
            <a:r>
              <a:rPr lang="en-US" sz="2000" b="1" dirty="0" err="1"/>
              <a:t>AutoAI</a:t>
            </a:r>
            <a:r>
              <a:rPr lang="en-US" sz="2000" b="1" dirty="0"/>
              <a:t>) Engine:</a:t>
            </a:r>
            <a:r>
              <a:rPr lang="en-US" sz="2000" dirty="0"/>
              <a:t> A deployed REST API endpoint that ingests 41 distinct network features </a:t>
            </a:r>
            <a:r>
              <a:rPr lang="en-US" sz="2000" dirty="0" smtClean="0"/>
              <a:t>and </a:t>
            </a:r>
            <a:r>
              <a:rPr lang="en-US" sz="2000" dirty="0"/>
              <a:t>utilizes ensemble machine learning techniques to mathematically classify traffic as Normal or Anomalous</a:t>
            </a:r>
            <a:r>
              <a:rPr lang="en-US" sz="2000" dirty="0" smtClean="0"/>
              <a:t>.</a:t>
            </a:r>
          </a:p>
          <a:p>
            <a:pPr marL="342900" indent="-342900" algn="just">
              <a:buFont typeface="Arial" pitchFamily="34" charset="0"/>
              <a:buChar char="•"/>
            </a:pPr>
            <a:endParaRPr lang="en-US" sz="2000" dirty="0"/>
          </a:p>
          <a:p>
            <a:pPr marL="342900" indent="-342900" algn="just">
              <a:buFont typeface="Arial" pitchFamily="34" charset="0"/>
              <a:buChar char="•"/>
            </a:pPr>
            <a:r>
              <a:rPr lang="en-US" sz="2000" b="1" dirty="0"/>
              <a:t>IBM Watsonx.ai Granite Foundation Models:</a:t>
            </a:r>
            <a:r>
              <a:rPr lang="en-US" sz="2000" dirty="0"/>
              <a:t> The cognitive core of the system. Utilizing large language models (like granite-13b-instruct-v2) injected with a strict </a:t>
            </a:r>
            <a:r>
              <a:rPr lang="en-US" sz="2000" dirty="0" err="1"/>
              <a:t>cybersecurity</a:t>
            </a:r>
            <a:r>
              <a:rPr lang="en-US" sz="2000" dirty="0"/>
              <a:t> persona to interpret ML outputs and generate deterministic incident reports</a:t>
            </a:r>
            <a:r>
              <a:rPr lang="en-US" sz="2000" dirty="0" smtClean="0"/>
              <a:t>.</a:t>
            </a:r>
          </a:p>
          <a:p>
            <a:pPr marL="342900" indent="-342900" algn="just">
              <a:buFont typeface="Arial" pitchFamily="34" charset="0"/>
              <a:buChar char="•"/>
            </a:pPr>
            <a:endParaRPr lang="en-US" sz="2000" dirty="0"/>
          </a:p>
          <a:p>
            <a:pPr marL="342900" indent="-342900" algn="just">
              <a:buFont typeface="Arial" pitchFamily="34" charset="0"/>
              <a:buChar char="•"/>
            </a:pPr>
            <a:r>
              <a:rPr lang="en-US" sz="2000" b="1" dirty="0"/>
              <a:t>Python Orchestration Backend:</a:t>
            </a:r>
            <a:r>
              <a:rPr lang="en-US" sz="2000" dirty="0"/>
              <a:t> A robust middleware layer that handles secure IBM IAM </a:t>
            </a:r>
            <a:r>
              <a:rPr lang="en-US" sz="2000" dirty="0" err="1"/>
              <a:t>OAuth</a:t>
            </a:r>
            <a:r>
              <a:rPr lang="en-US" sz="2000" dirty="0"/>
              <a:t> token generation, JSON payload mapping, API rate-limit throttling, and automated LLM failover cascades to ensure continuous uptime.</a:t>
            </a:r>
          </a:p>
        </p:txBody>
      </p:sp>
    </p:spTree>
    <p:extLst>
      <p:ext uri="{BB962C8B-B14F-4D97-AF65-F5344CB8AC3E}">
        <p14:creationId xmlns:p14="http://schemas.microsoft.com/office/powerpoint/2010/main" val="2196589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391180"/>
            <a:ext cx="7123176" cy="523220"/>
          </a:xfrm>
          <a:prstGeom prst="rect">
            <a:avLst/>
          </a:prstGeom>
          <a:noFill/>
        </p:spPr>
        <p:txBody>
          <a:bodyPr wrap="square" lIns="91440" tIns="45720" rIns="91440" bIns="45720" rtlCol="0" anchor="t">
            <a:spAutoFit/>
          </a:bodyPr>
          <a:lstStyle/>
          <a:p>
            <a:r>
              <a:rPr lang="en-US" sz="2800" b="1" dirty="0"/>
              <a:t>Architecture Blueprint</a:t>
            </a:r>
            <a:endParaRPr lang="en-IN" sz="2800" b="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1" y="901351"/>
            <a:ext cx="5766816" cy="5880449"/>
          </a:xfrm>
          <a:prstGeom prst="rect">
            <a:avLst/>
          </a:prstGeom>
        </p:spPr>
      </p:pic>
    </p:spTree>
    <p:extLst>
      <p:ext uri="{BB962C8B-B14F-4D97-AF65-F5344CB8AC3E}">
        <p14:creationId xmlns:p14="http://schemas.microsoft.com/office/powerpoint/2010/main" val="456478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Training Screenshots-</a:t>
            </a:r>
            <a:endParaRPr sz="2800" b="1" dirty="0">
              <a:sym typeface="Times New Roman"/>
            </a:endParaRPr>
          </a:p>
        </p:txBody>
      </p:sp>
      <p:pic>
        <p:nvPicPr>
          <p:cNvPr id="7" name="Picture 6">
            <a:extLst>
              <a:ext uri="{FF2B5EF4-FFF2-40B4-BE49-F238E27FC236}">
                <a16:creationId xmlns="" xmlns:a16="http://schemas.microsoft.com/office/drawing/2014/main" id="{F01777E0-76AB-ED0C-E315-B3012BB64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2" y="939830"/>
            <a:ext cx="11153775" cy="546097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12" name="Picture 11">
            <a:extLst>
              <a:ext uri="{FF2B5EF4-FFF2-40B4-BE49-F238E27FC236}">
                <a16:creationId xmlns="" xmlns:a16="http://schemas.microsoft.com/office/drawing/2014/main" id="{EA32AEB0-3A3B-DE1A-F3F6-817D1B453D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811" y="1524000"/>
            <a:ext cx="11281989" cy="3733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7" name="Picture 6">
            <a:extLst>
              <a:ext uri="{FF2B5EF4-FFF2-40B4-BE49-F238E27FC236}">
                <a16:creationId xmlns="" xmlns:a16="http://schemas.microsoft.com/office/drawing/2014/main" id="{85DF99AC-D1C6-EA9C-D42E-6073C09D0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4115" y="887391"/>
            <a:ext cx="9864300" cy="5545961"/>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56959763-B5B5-22E5-733E-B3F05D391F6B}"/>
              </a:ext>
            </a:extLst>
          </p:cNvPr>
          <p:cNvSpPr/>
          <p:nvPr/>
        </p:nvSpPr>
        <p:spPr>
          <a:xfrm>
            <a:off x="537590" y="152400"/>
            <a:ext cx="5908929" cy="448508"/>
          </a:xfrm>
          <a:prstGeom prst="rect">
            <a:avLst/>
          </a:prstGeom>
          <a:noFill/>
          <a:ln>
            <a:noFill/>
          </a:ln>
        </p:spPr>
        <p:txBody>
          <a:bodyPr spcFirstLastPara="1" wrap="square" lIns="0" tIns="0" rIns="0" bIns="0" anchor="t" anchorCtr="0">
            <a:noAutofit/>
          </a:bodyPr>
          <a:lstStyle/>
          <a:p>
            <a:r>
              <a:rPr lang="en-US" sz="2800" b="1" dirty="0" smtClean="0">
                <a:solidFill>
                  <a:schemeClr val="dk1"/>
                </a:solidFill>
                <a:latin typeface="Calibri"/>
                <a:ea typeface="Calibri"/>
                <a:cs typeface="Calibri"/>
              </a:rPr>
              <a:t>Deployed Interface </a:t>
            </a:r>
            <a:r>
              <a:rPr lang="en-US" sz="2800" b="1" dirty="0">
                <a:solidFill>
                  <a:schemeClr val="dk1"/>
                </a:solidFill>
                <a:latin typeface="Calibri"/>
                <a:ea typeface="Calibri"/>
                <a:cs typeface="Calibri"/>
              </a:rPr>
              <a:t>Screenshot:</a:t>
            </a:r>
          </a:p>
        </p:txBody>
      </p:sp>
      <p:pic>
        <p:nvPicPr>
          <p:cNvPr id="10" name="Picture 9">
            <a:extLst>
              <a:ext uri="{FF2B5EF4-FFF2-40B4-BE49-F238E27FC236}">
                <a16:creationId xmlns="" xmlns:a16="http://schemas.microsoft.com/office/drawing/2014/main" id="{B5FE8DA2-14B6-FAE6-9EC0-7C2A1A4047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617525"/>
            <a:ext cx="5394549" cy="6088075"/>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8507" y="609600"/>
            <a:ext cx="5401572" cy="6096000"/>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25"/>
            <a:ext cx="4572000" cy="600075"/>
          </a:xfrm>
        </p:spPr>
        <p:txBody>
          <a:bodyPr>
            <a:normAutofit/>
          </a:bodyPr>
          <a:lstStyle/>
          <a:p>
            <a:r>
              <a:rPr lang="en-US" sz="2800" b="1" dirty="0" smtClean="0"/>
              <a:t>Resource Usage (Before)</a:t>
            </a:r>
            <a:endParaRPr lang="en-US" sz="28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354" y="790098"/>
            <a:ext cx="8654646" cy="5763102"/>
          </a:xfrm>
          <a:prstGeom prst="rect">
            <a:avLst/>
          </a:prstGeom>
        </p:spPr>
      </p:pic>
    </p:spTree>
    <p:extLst>
      <p:ext uri="{BB962C8B-B14F-4D97-AF65-F5344CB8AC3E}">
        <p14:creationId xmlns:p14="http://schemas.microsoft.com/office/powerpoint/2010/main" val="348031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25"/>
            <a:ext cx="4572000" cy="600075"/>
          </a:xfrm>
        </p:spPr>
        <p:txBody>
          <a:bodyPr>
            <a:normAutofit/>
          </a:bodyPr>
          <a:lstStyle/>
          <a:p>
            <a:r>
              <a:rPr lang="en-US" sz="2800" b="1" dirty="0" smtClean="0"/>
              <a:t>Resource Usage (After)</a:t>
            </a:r>
            <a:endParaRPr lang="en-US" sz="28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069" y="914400"/>
            <a:ext cx="10854131" cy="5105400"/>
          </a:xfrm>
          <a:prstGeom prst="rect">
            <a:avLst/>
          </a:prstGeom>
        </p:spPr>
      </p:pic>
    </p:spTree>
    <p:extLst>
      <p:ext uri="{BB962C8B-B14F-4D97-AF65-F5344CB8AC3E}">
        <p14:creationId xmlns:p14="http://schemas.microsoft.com/office/powerpoint/2010/main" val="3493026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304800"/>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990600"/>
            <a:ext cx="10769628" cy="5324535"/>
          </a:xfrm>
          <a:prstGeom prst="rect">
            <a:avLst/>
          </a:prstGeom>
          <a:noFill/>
        </p:spPr>
        <p:txBody>
          <a:bodyPr wrap="square" lIns="91440" tIns="45720" rIns="91440" bIns="45720" rtlCol="0" anchor="t">
            <a:spAutoFit/>
          </a:bodyPr>
          <a:lstStyle/>
          <a:p>
            <a:pPr marL="285750" indent="-285750" algn="just">
              <a:buFont typeface="Arial" pitchFamily="34" charset="0"/>
              <a:buChar char="•"/>
            </a:pPr>
            <a:r>
              <a:rPr lang="en-US" sz="2000" b="1" dirty="0"/>
              <a:t>Hybrid Intelligence Architecture:</a:t>
            </a:r>
            <a:r>
              <a:rPr lang="en-US" sz="2000" dirty="0"/>
              <a:t> Unlike traditional NIDS that only provide binary alerts, </a:t>
            </a:r>
            <a:r>
              <a:rPr lang="en-US" sz="2000" dirty="0" err="1"/>
              <a:t>SentinelAI</a:t>
            </a:r>
            <a:r>
              <a:rPr lang="en-US" sz="2000" dirty="0"/>
              <a:t> fuses deterministic predictive ML (for high-accuracy anomaly detection) with probabilistic Generative AI (for contextual, human-readable mitigation), creating a complete end-to-end security pipeline</a:t>
            </a:r>
            <a:r>
              <a:rPr lang="en-US" sz="2000" dirty="0" smtClean="0"/>
              <a:t>.</a:t>
            </a:r>
          </a:p>
          <a:p>
            <a:pPr marL="285750" indent="-285750" algn="just">
              <a:buFont typeface="Arial" pitchFamily="34" charset="0"/>
              <a:buChar char="•"/>
            </a:pPr>
            <a:endParaRPr lang="en-US" sz="2000" dirty="0"/>
          </a:p>
          <a:p>
            <a:pPr marL="285750" indent="-285750" algn="just">
              <a:buFont typeface="Arial" pitchFamily="34" charset="0"/>
              <a:buChar char="•"/>
            </a:pPr>
            <a:r>
              <a:rPr lang="en-US" sz="2000" b="1" dirty="0"/>
              <a:t>Enterprise-Grade API Throttling &amp; Failover:</a:t>
            </a:r>
            <a:r>
              <a:rPr lang="en-US" sz="2000" dirty="0"/>
              <a:t> Custom-engineered to maximize IBM Cloud Lite resources, the system features a self-healing backend. If a specific Granite model is rate-limited, the pipeline autonomously reroutes the payload to a fallback model without disrupting the analyst's workflow</a:t>
            </a:r>
            <a:r>
              <a:rPr lang="en-US" sz="2000" dirty="0" smtClean="0"/>
              <a:t>.</a:t>
            </a:r>
          </a:p>
          <a:p>
            <a:pPr marL="285750" indent="-285750" algn="just">
              <a:buFont typeface="Arial" pitchFamily="34" charset="0"/>
              <a:buChar char="•"/>
            </a:pPr>
            <a:endParaRPr lang="en-US" sz="2000" dirty="0"/>
          </a:p>
          <a:p>
            <a:pPr marL="285750" indent="-285750" algn="just">
              <a:buFont typeface="Arial" pitchFamily="34" charset="0"/>
              <a:buChar char="•"/>
            </a:pPr>
            <a:r>
              <a:rPr lang="en-US" sz="2000" b="1" dirty="0"/>
              <a:t>Action-Oriented Contextualization:</a:t>
            </a:r>
            <a:r>
              <a:rPr lang="en-US" sz="2000" dirty="0"/>
              <a:t> The system reduces "alert fatigue" by translating complex mathematical boundaries and raw packet telemetry into immediate, step-by-step mitigation playbooks tailored to the specific threat detected</a:t>
            </a:r>
            <a:r>
              <a:rPr lang="en-US" sz="2000" dirty="0" smtClean="0"/>
              <a:t>.</a:t>
            </a:r>
          </a:p>
          <a:p>
            <a:pPr marL="285750" indent="-285750" algn="just">
              <a:buFont typeface="Arial" pitchFamily="34" charset="0"/>
              <a:buChar char="•"/>
            </a:pPr>
            <a:endParaRPr lang="en-US" sz="2000" dirty="0"/>
          </a:p>
          <a:p>
            <a:pPr marL="285750" indent="-285750" algn="just">
              <a:buFont typeface="Arial" pitchFamily="34" charset="0"/>
              <a:buChar char="•"/>
            </a:pPr>
            <a:r>
              <a:rPr lang="en-US" sz="2000" b="1" dirty="0"/>
              <a:t>Zero-Footprint Cloud Deployment:</a:t>
            </a:r>
            <a:r>
              <a:rPr lang="en-US" sz="2000" dirty="0"/>
              <a:t> Completely bypasses the need for heavy local compute. The architecture is decoupled, utilizing Hugging Face Spaces for the frontend UI while securely routing execution to IBM Cloud for the heavy backend inference.</a:t>
            </a: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p:nvPr/>
        </p:nvSpPr>
        <p:spPr>
          <a:xfrm>
            <a:off x="0" y="420729"/>
            <a:ext cx="6096000" cy="704100"/>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800" b="1" i="0" u="none" strike="noStrike" cap="none">
                <a:solidFill>
                  <a:srgbClr val="000000"/>
                </a:solidFill>
                <a:latin typeface="Arial"/>
                <a:ea typeface="Arial"/>
                <a:cs typeface="Arial"/>
                <a:sym typeface="Arial"/>
              </a:rPr>
              <a:t>GitHub Link</a:t>
            </a:r>
            <a:endParaRPr sz="2800" b="1" i="0" u="none" strike="noStrike" cap="none">
              <a:solidFill>
                <a:srgbClr val="000000"/>
              </a:solidFill>
              <a:latin typeface="Arial"/>
              <a:ea typeface="Arial"/>
              <a:cs typeface="Arial"/>
              <a:sym typeface="Arial"/>
            </a:endParaRPr>
          </a:p>
        </p:txBody>
      </p:sp>
      <p:sp>
        <p:nvSpPr>
          <p:cNvPr id="314" name="Google Shape;314;p1"/>
          <p:cNvSpPr/>
          <p:nvPr/>
        </p:nvSpPr>
        <p:spPr>
          <a:xfrm>
            <a:off x="1218725" y="1143000"/>
            <a:ext cx="4420200" cy="979800"/>
          </a:xfrm>
          <a:prstGeom prst="rect">
            <a:avLst/>
          </a:prstGeom>
          <a:noFill/>
          <a:ln>
            <a:noFill/>
          </a:ln>
        </p:spPr>
        <p:txBody>
          <a:bodyPr spcFirstLastPara="1" wrap="square" lIns="0" tIns="0" rIns="0" bIns="0" anchor="t" anchorCtr="0">
            <a:noAutofit/>
          </a:bodyPr>
          <a:lstStyle/>
          <a:p>
            <a:pPr marL="0" marR="0" lvl="0" indent="0" algn="just" rtl="0">
              <a:lnSpc>
                <a:spcPct val="162162"/>
              </a:lnSpc>
              <a:spcBef>
                <a:spcPts val="0"/>
              </a:spcBef>
              <a:spcAft>
                <a:spcPts val="0"/>
              </a:spcAft>
              <a:buNone/>
            </a:pPr>
            <a:r>
              <a:rPr lang="en-US" sz="2000" b="0" i="0" u="sng" strike="noStrike" cap="none">
                <a:solidFill>
                  <a:schemeClr val="hlink"/>
                </a:solidFill>
                <a:latin typeface="Arial"/>
                <a:ea typeface="Arial"/>
                <a:cs typeface="Arial"/>
                <a:sym typeface="Arial"/>
                <a:hlinkClick r:id="rId3"/>
              </a:rPr>
              <a:t>https://github.com/SujalDixit9538/NetworkSentinelAI.git</a:t>
            </a:r>
            <a:endParaRPr sz="1850" b="0" i="0" u="none" strike="noStrike" cap="none">
              <a:solidFill>
                <a:srgbClr val="000000"/>
              </a:solidFill>
              <a:latin typeface="Times New Roman"/>
              <a:ea typeface="Times New Roman"/>
              <a:cs typeface="Times New Roman"/>
              <a:sym typeface="Times New Roman"/>
            </a:endParaRPr>
          </a:p>
        </p:txBody>
      </p:sp>
      <p:sp>
        <p:nvSpPr>
          <p:cNvPr id="315" name="Google Shape;315;p1"/>
          <p:cNvSpPr/>
          <p:nvPr/>
        </p:nvSpPr>
        <p:spPr>
          <a:xfrm>
            <a:off x="1218724" y="5430713"/>
            <a:ext cx="7468500" cy="383100"/>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16" name="Google Shape;316;p1"/>
          <p:cNvPicPr preferRelativeResize="0"/>
          <p:nvPr/>
        </p:nvPicPr>
        <p:blipFill rotWithShape="1">
          <a:blip r:embed="rId4">
            <a:alphaModFix/>
          </a:blip>
          <a:srcRect/>
          <a:stretch/>
        </p:blipFill>
        <p:spPr>
          <a:xfrm>
            <a:off x="1447800" y="2362200"/>
            <a:ext cx="2971800" cy="2971800"/>
          </a:xfrm>
          <a:prstGeom prst="rect">
            <a:avLst/>
          </a:prstGeom>
          <a:noFill/>
          <a:ln>
            <a:noFill/>
          </a:ln>
        </p:spPr>
      </p:pic>
      <p:sp>
        <p:nvSpPr>
          <p:cNvPr id="317" name="Google Shape;317;p1"/>
          <p:cNvSpPr txBox="1"/>
          <p:nvPr/>
        </p:nvSpPr>
        <p:spPr>
          <a:xfrm>
            <a:off x="6096000" y="482128"/>
            <a:ext cx="60960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Working Project Link</a:t>
            </a:r>
            <a:endParaRPr sz="2800" b="1" i="0" u="none" strike="noStrike" cap="none" dirty="0">
              <a:solidFill>
                <a:srgbClr val="000000"/>
              </a:solidFill>
              <a:latin typeface="Arial"/>
              <a:ea typeface="Arial"/>
              <a:cs typeface="Arial"/>
              <a:sym typeface="Arial"/>
            </a:endParaRPr>
          </a:p>
        </p:txBody>
      </p:sp>
      <p:sp>
        <p:nvSpPr>
          <p:cNvPr id="318" name="Google Shape;318;p1"/>
          <p:cNvSpPr/>
          <p:nvPr/>
        </p:nvSpPr>
        <p:spPr>
          <a:xfrm>
            <a:off x="6858000" y="1143000"/>
            <a:ext cx="4724400" cy="979800"/>
          </a:xfrm>
          <a:prstGeom prst="rect">
            <a:avLst/>
          </a:prstGeom>
          <a:noFill/>
          <a:ln>
            <a:noFill/>
          </a:ln>
        </p:spPr>
        <p:txBody>
          <a:bodyPr spcFirstLastPara="1" wrap="square" lIns="0" tIns="0" rIns="0" bIns="0" anchor="t" anchorCtr="0">
            <a:noAutofit/>
          </a:bodyPr>
          <a:lstStyle/>
          <a:p>
            <a:pPr marL="0" marR="0" lvl="0" indent="0" algn="just" rtl="0">
              <a:lnSpc>
                <a:spcPct val="162162"/>
              </a:lnSpc>
              <a:spcBef>
                <a:spcPts val="0"/>
              </a:spcBef>
              <a:spcAft>
                <a:spcPts val="0"/>
              </a:spcAft>
              <a:buNone/>
            </a:pPr>
            <a:r>
              <a:rPr lang="en-US" sz="2000" b="0" i="0" u="sng" strike="noStrike" cap="none">
                <a:solidFill>
                  <a:schemeClr val="hlink"/>
                </a:solidFill>
                <a:latin typeface="Arial"/>
                <a:ea typeface="Arial"/>
                <a:cs typeface="Arial"/>
                <a:sym typeface="Arial"/>
                <a:hlinkClick r:id="rId5"/>
              </a:rPr>
              <a:t>https://huggingface.co/spaces/SujalDixit1927/NetworkSentinelAI</a:t>
            </a:r>
            <a:endParaRPr sz="1850" b="0" i="0" u="none" strike="noStrike" cap="none">
              <a:solidFill>
                <a:srgbClr val="000000"/>
              </a:solidFill>
              <a:latin typeface="Times New Roman"/>
              <a:ea typeface="Times New Roman"/>
              <a:cs typeface="Times New Roman"/>
              <a:sym typeface="Times New Roman"/>
            </a:endParaRPr>
          </a:p>
        </p:txBody>
      </p:sp>
      <p:pic>
        <p:nvPicPr>
          <p:cNvPr id="319" name="Google Shape;319;p1"/>
          <p:cNvPicPr preferRelativeResize="0"/>
          <p:nvPr/>
        </p:nvPicPr>
        <p:blipFill rotWithShape="1">
          <a:blip r:embed="rId6">
            <a:alphaModFix/>
          </a:blip>
          <a:srcRect/>
          <a:stretch/>
        </p:blipFill>
        <p:spPr>
          <a:xfrm>
            <a:off x="6858000" y="2286000"/>
            <a:ext cx="3048000" cy="30244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a:t>
            </a:r>
            <a:r>
              <a:rPr lang="en-US" sz="2400" b="1" dirty="0">
                <a:sym typeface="Times New Roman"/>
              </a:rPr>
              <a:t>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377220" y="1285599"/>
            <a:ext cx="9214580" cy="4277001"/>
          </a:xfrm>
          <a:prstGeom prst="rect">
            <a:avLst/>
          </a:prstGeom>
          <a:noFill/>
          <a:ln>
            <a:noFill/>
          </a:ln>
        </p:spPr>
        <p:txBody>
          <a:bodyPr spcFirstLastPara="1" wrap="square" lIns="0" tIns="0" rIns="0" bIns="0" anchor="t" anchorCtr="0">
            <a:noAutofit/>
          </a:bodyPr>
          <a:lstStyle/>
          <a:p>
            <a:pPr marL="342900" indent="-342900" algn="just">
              <a:buFont typeface="Arial" pitchFamily="34" charset="0"/>
              <a:buChar char="•"/>
            </a:pPr>
            <a:r>
              <a:rPr lang="en-US" sz="2000" b="1" dirty="0"/>
              <a:t>Live Enterprise SIEM Integration:</a:t>
            </a:r>
            <a:r>
              <a:rPr lang="en-US" sz="2000" dirty="0"/>
              <a:t> Transitioning from simulated CSV telemetry to intercepting live network packets via integration with enterprise Security Information and Event Management (SIEM) tools like IBM </a:t>
            </a:r>
            <a:r>
              <a:rPr lang="en-US" sz="2000" dirty="0" err="1"/>
              <a:t>QRadar</a:t>
            </a:r>
            <a:r>
              <a:rPr lang="en-US" sz="2000" dirty="0"/>
              <a:t> or </a:t>
            </a:r>
            <a:r>
              <a:rPr lang="en-US" sz="2000" dirty="0" err="1"/>
              <a:t>Splunk</a:t>
            </a:r>
            <a:r>
              <a:rPr lang="en-US" sz="2000" dirty="0"/>
              <a:t> for real-time edge monitoring</a:t>
            </a:r>
            <a:r>
              <a:rPr lang="en-US" sz="2000" dirty="0" smtClean="0"/>
              <a:t>.</a:t>
            </a:r>
          </a:p>
          <a:p>
            <a:pPr marL="342900" indent="-342900" algn="just">
              <a:buFont typeface="Arial" pitchFamily="34" charset="0"/>
              <a:buChar char="•"/>
            </a:pPr>
            <a:endParaRPr lang="en-US" sz="2000" dirty="0"/>
          </a:p>
          <a:p>
            <a:pPr marL="342900" indent="-342900" algn="just">
              <a:buFont typeface="Arial" pitchFamily="34" charset="0"/>
              <a:buChar char="•"/>
            </a:pPr>
            <a:r>
              <a:rPr lang="en-US" sz="2000" b="1" dirty="0"/>
              <a:t>Retrieval-Augmented Generation (RAG) for Compliance:</a:t>
            </a:r>
            <a:r>
              <a:rPr lang="en-US" sz="2000" dirty="0"/>
              <a:t> Implementing a Vector Database loaded with internal corporate security protocols (ISO27001, SOC2). This would allow the Granite agent to actively cite specific company policies when generating mitigation steps</a:t>
            </a:r>
            <a:r>
              <a:rPr lang="en-US" sz="2000" dirty="0" smtClean="0"/>
              <a:t>.</a:t>
            </a:r>
          </a:p>
          <a:p>
            <a:pPr marL="342900" indent="-342900" algn="just">
              <a:buFont typeface="Arial" pitchFamily="34" charset="0"/>
              <a:buChar char="•"/>
            </a:pPr>
            <a:endParaRPr lang="en-US" sz="2000" dirty="0"/>
          </a:p>
          <a:p>
            <a:pPr marL="342900" indent="-342900" algn="just">
              <a:buFont typeface="Arial" pitchFamily="34" charset="0"/>
              <a:buChar char="•"/>
            </a:pPr>
            <a:r>
              <a:rPr lang="en-US" sz="2000" b="1" dirty="0"/>
              <a:t>Autonomous Remediation via Multi-Agent Systems:</a:t>
            </a:r>
            <a:r>
              <a:rPr lang="en-US" sz="2000" dirty="0"/>
              <a:t> Evolving from an advisory tool to an active defense mechanism. Developing secondary sub-agents (e.g., a 'Firewall Agent') capable of parsing the primary Analyst Agent's report and automatically executing API calls to block malicious IP addresses.</a:t>
            </a: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63899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 </a:t>
            </a:r>
          </a:p>
        </p:txBody>
      </p:sp>
      <p:pic>
        <p:nvPicPr>
          <p:cNvPr id="4" name="Picture 3">
            <a:extLst>
              <a:ext uri="{FF2B5EF4-FFF2-40B4-BE49-F238E27FC236}">
                <a16:creationId xmlns="" xmlns:a16="http://schemas.microsoft.com/office/drawing/2014/main"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3442" y="1351370"/>
            <a:ext cx="7075219" cy="5293311"/>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63899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 </a:t>
            </a:r>
          </a:p>
        </p:txBody>
      </p:sp>
      <p:pic>
        <p:nvPicPr>
          <p:cNvPr id="4" name="Picture 3">
            <a:extLst>
              <a:ext uri="{FF2B5EF4-FFF2-40B4-BE49-F238E27FC236}">
                <a16:creationId xmlns="" xmlns:a16="http://schemas.microsoft.com/office/drawing/2014/main"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3442" y="1384125"/>
            <a:ext cx="7075219" cy="52278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p:spTree>
    <p:extLst>
      <p:ext uri="{BB962C8B-B14F-4D97-AF65-F5344CB8AC3E}">
        <p14:creationId xmlns:p14="http://schemas.microsoft.com/office/powerpoint/2010/main" val="3512259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63899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 </a:t>
            </a:r>
          </a:p>
        </p:txBody>
      </p:sp>
      <p:pic>
        <p:nvPicPr>
          <p:cNvPr id="4" name="Picture 3">
            <a:extLst>
              <a:ext uri="{FF2B5EF4-FFF2-40B4-BE49-F238E27FC236}">
                <a16:creationId xmlns="" xmlns:a16="http://schemas.microsoft.com/office/drawing/2014/main"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5851" y="1384125"/>
            <a:ext cx="6970400" cy="52278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p:spTree>
    <p:extLst>
      <p:ext uri="{BB962C8B-B14F-4D97-AF65-F5344CB8AC3E}">
        <p14:creationId xmlns:p14="http://schemas.microsoft.com/office/powerpoint/2010/main" val="1809476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099C3698-991D-7A38-C456-893C84C23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295400"/>
            <a:ext cx="8568716" cy="5193161"/>
          </a:xfrm>
          <a:prstGeom prst="rect">
            <a:avLst/>
          </a:prstGeom>
        </p:spPr>
      </p:pic>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922</Words>
  <Application>Microsoft Office PowerPoint</Application>
  <PresentationFormat>Custom</PresentationFormat>
  <Paragraphs>95</Paragraphs>
  <Slides>21</Slides>
  <Notes>13</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Usage (Before)</vt:lpstr>
      <vt:lpstr>Resource Usage (After)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cp:lastModifiedBy>Windows User</cp:lastModifiedBy>
  <cp:revision>1</cp:revision>
  <dcterms:modified xsi:type="dcterms:W3CDTF">2026-07-08T15:43:25Z</dcterms:modified>
</cp:coreProperties>
</file>